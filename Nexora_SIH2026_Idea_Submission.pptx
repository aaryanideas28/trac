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10B981"/>
                </a:solidFill>
                <a:latin typeface="Arial"/>
              </a:defRPr>
            </a:pPr>
            <a:r>
              <a:t>SMART INDIA HACKATHON 2026</a:t>
            </a:r>
          </a:p>
          <a:p>
            <a:pPr>
              <a:defRPr b="1" sz="2200">
                <a:solidFill>
                  <a:srgbClr val="FFFFFF"/>
                </a:solidFill>
                <a:latin typeface="Arial"/>
              </a:defRPr>
            </a:pPr>
            <a:r>
              <a:t>NEXORA: AI RAILWAY TRAFFIC CONTROL &amp; OPTIMIZATION COMMAND CENTER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10728655" cy="34747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365760"/>
          <a:lstStyle/>
          <a:p>
            <a:pPr algn="ctr"/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• Problem Statement ID:  SIH1601 / [Your PS ID]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• Problem Statement Title:  AI-Powered Dynamic Railway Traffic Control &amp; Conflict-Free Dispatching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• Theme:  Smart Automation / Transportation &amp; Public Infrastructure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• PS Category:  Software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• Team ID:  [Your Team ID]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  <a:latin typeface="Arial"/>
              </a:defRPr>
            </a:pPr>
            <a:r>
              <a:t>• Team Name:  Nexora / [Registered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b="1" sz="2600">
                <a:solidFill>
                  <a:srgbClr val="FFFFFF"/>
                </a:solidFill>
                <a:latin typeface="Arial"/>
              </a:defRPr>
            </a:pPr>
            <a:r>
              <a:t>PROPOSED SOLUTION (IDEA &amp; PROTOTYPE)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  <a:br/>
            <a:r>
              <a:t>Team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 Template  |  Slide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8580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1. Proposed Solution Explanation: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Live Digital Twin Engine modeling Mumbai Central Line (CSMT to Thane corridor).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Integrates Scikit-Learn Random Forest ML predictions for congestion risk scoring.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Executes Google OR-Tools CP-SAT optimization to calculate conflict-free dispatch slots in &lt; 150 ms.</a:t>
            </a:r>
          </a:p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2. How It Addresses the Problem: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Replaces manual controller trial-and-error with automated, proven track dispatches.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Reroutes blocked trains via interlocked crossovers (e.g. Signal S-14 Crossover).</a:t>
            </a:r>
          </a:p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3. Innovation &amp; Uniqueness: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Hybrid AI Architecture: Probabilistic ML Risk + Exact CP-SAT Interval Scheduling.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Physics Kinematics: Dynamically computes travel times (D_edge / V_kmh).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Guaranteed Zero Conflicts: Enforces 120s safety headway buffers &amp; track locks.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280160"/>
            <a:ext cx="3657600" cy="47548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/>
          <a:lstStyle/>
          <a:p>
            <a:pPr algn="ctr">
              <a:spcAft>
                <a:spcPts val="1000"/>
              </a:spcAft>
              <a:defRPr b="1" sz="1600">
                <a:solidFill>
                  <a:srgbClr val="1E40AF"/>
                </a:solidFill>
                <a:latin typeface="Arial"/>
              </a:defRPr>
            </a:pPr>
            <a:r>
              <a:t>📷 IMAGE PLACEHOLDER</a:t>
            </a:r>
          </a:p>
          <a:p>
            <a:pPr algn="ctr">
              <a:spcAft>
                <a:spcPts val="6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[Insert Screenshot of Live Railway Network Graph]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(Insert dashboard screenshot showing live train markers moving along CSMT-Thane stations and Dadar blockage visualization)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b="1" sz="2600">
                <a:solidFill>
                  <a:srgbClr val="FFFFFF"/>
                </a:solidFill>
                <a:latin typeface="Arial"/>
              </a:defRPr>
            </a:pPr>
            <a:r>
              <a:t>TECHNICAL APPROACH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  <a:br/>
            <a:r>
              <a:t>Team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 Template  |  Slide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8580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1. Technologies &amp; Architecture Stack: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Backend Engine: Python 3.10, FastAPI, Uvicorn, Asynchronous REST Services.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Optimization Engine: Google OR-Tools CP-SAT (Constraint Programming &amp; MILP).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Machine Learning: Scikit-Learn Random Forest Classifier (joblib model), Pandas.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Frontend Dashboard: React 18, TypeScript, Vite, Tailwind CSS, SVG Visualizer.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Graph Model: RailwayNetworkGraph supporting fast/slow lines &amp; node topology.</a:t>
            </a:r>
          </a:p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2. Process &amp; Implementation Workflow: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Step 1 (Live Ticker): Updates train positions, progress %, speeds, and ETAs every 1s.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Step 2 (Risk Monitor): Telemetry features trigger Random Forest inference.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Step 3 (CP-SAT Solver): Solves single-occupancy interval constraints subject to safety headway.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Step 4 (Live Dispatch): Reassigns tracks (Track 1 Slow), restores speeds, &amp; clears queues.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280160"/>
            <a:ext cx="3657600" cy="47548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/>
          <a:lstStyle/>
          <a:p>
            <a:pPr algn="ctr">
              <a:spcAft>
                <a:spcPts val="1000"/>
              </a:spcAft>
              <a:defRPr b="1" sz="1600">
                <a:solidFill>
                  <a:srgbClr val="1E40AF"/>
                </a:solidFill>
                <a:latin typeface="Arial"/>
              </a:defRPr>
            </a:pPr>
            <a:r>
              <a:t>📷 IMAGE PLACEHOLDER</a:t>
            </a:r>
          </a:p>
          <a:p>
            <a:pPr algn="ctr">
              <a:spcAft>
                <a:spcPts val="6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[Insert Architecture / Workflow Flowchart]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(Insert diagram showing Data Flow: Live Telemetry -&gt; ML Risk Model -&gt; OR-Tools CP-SAT Solver -&gt; Dashboard UI)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b="1" sz="2600">
                <a:solidFill>
                  <a:srgbClr val="FFFFFF"/>
                </a:solidFill>
                <a:latin typeface="Arial"/>
              </a:defRPr>
            </a:pPr>
            <a:r>
              <a:t>FEASIBILITY AND VIABILITY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  <a:br/>
            <a:r>
              <a:t>Team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 Template  |  Slide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8580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1. Feasibility Analysis: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Ultra-Fast Solver: CP-SAT executes in 80ms – 250ms for real-time Control Office deployment.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Non-Disruptive: Consumes standard COA/ICMS timetable JSONs without changing physical signalling.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100% Verified: Passes automated end-to-end test suite across 7/7 core simulation test cases.</a:t>
            </a:r>
          </a:p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2. Operational Challenges &amp; Risks: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Data Latency: Transmission delays in live GPS telemetry feeds during peak rush hours.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Loco Pilot Brakes: Sudden emergency stops or signal overshoots by train drivers.</a:t>
            </a:r>
          </a:p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3. Mitigation Strategies: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Rolling-Horizon Replanning: Re-optimizes schedule every 10–30s for position deltas.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Robust Pipelines: Uses Scikit-Learn imputer &amp; encoder pipelines for missing data resilience.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Safety Headway Buffers: Enforces mandatory 120s safety headway buffers.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280160"/>
            <a:ext cx="3657600" cy="47548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/>
          <a:lstStyle/>
          <a:p>
            <a:pPr algn="ctr">
              <a:spcAft>
                <a:spcPts val="1000"/>
              </a:spcAft>
              <a:defRPr b="1" sz="1600">
                <a:solidFill>
                  <a:srgbClr val="1E40AF"/>
                </a:solidFill>
                <a:latin typeface="Arial"/>
              </a:defRPr>
            </a:pPr>
            <a:r>
              <a:t>📷 IMAGE PLACEHOLDER</a:t>
            </a:r>
          </a:p>
          <a:p>
            <a:pPr algn="ctr">
              <a:spcAft>
                <a:spcPts val="6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[Insert CP-SAT Solver Execution Screenshot]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(Insert screenshot of OR-Tools CP-SAT Optimization Panel showing Measured Solve Time in ms &amp; Status: OPTIMAL)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b="1" sz="2600">
                <a:solidFill>
                  <a:srgbClr val="FFFFFF"/>
                </a:solidFill>
                <a:latin typeface="Arial"/>
              </a:defRPr>
            </a:pPr>
            <a:r>
              <a:t>IMPACT AND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  <a:br/>
            <a:r>
              <a:t>Team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 Template  |  Slide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8580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1. Target Audience Impact (Traffic Controllers):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Provides Controllers with instant, conflict-free rerouting recommendations.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Significantly reduces Section Controller workload during major track disruptions.</a:t>
            </a:r>
          </a:p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2. Social Benefits: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Saves millions of commuter hours daily across busy suburban networks (CSMT-Thane).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Reduces platform overcrowding and boarding accidents during rush hour delays.</a:t>
            </a:r>
          </a:p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3. Economic &amp; Environmental Benefits: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Throughput Recovery: Boosts line throughput capacity by +35% to +50% post-incident.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Fuel &amp; Power Savings: Cuts diesel/electric power loss from outer-signal idling.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Carbon Footprint Cut: Reduces idle locomotive carbon emissions across freight &amp; passenger 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280160"/>
            <a:ext cx="3657600" cy="47548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/>
          <a:lstStyle/>
          <a:p>
            <a:pPr algn="ctr">
              <a:spcAft>
                <a:spcPts val="1000"/>
              </a:spcAft>
              <a:defRPr b="1" sz="1600">
                <a:solidFill>
                  <a:srgbClr val="1E40AF"/>
                </a:solidFill>
                <a:latin typeface="Arial"/>
              </a:defRPr>
            </a:pPr>
            <a:r>
              <a:t>📷 IMAGE PLACEHOLDER</a:t>
            </a:r>
          </a:p>
          <a:p>
            <a:pPr algn="ctr">
              <a:spcAft>
                <a:spcPts val="6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[Insert Before vs After Metrics Screenshot]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(Insert screenshot of Before vs After Optimization Panel showing Throughput Gain, Delay Cut, &amp; 100% Conflict Clearance)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182880"/>
          <a:lstStyle/>
          <a:p>
            <a:pPr algn="ctr">
              <a:defRPr b="1" sz="2600">
                <a:solidFill>
                  <a:srgbClr val="FFFFFF"/>
                </a:solidFill>
                <a:latin typeface="Arial"/>
              </a:defRPr>
            </a:pPr>
            <a:r>
              <a:t>RESEARCH AND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0" y="18288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FFFFFF"/>
                </a:solidFill>
                <a:latin typeface="Arial"/>
              </a:defRPr>
            </a:pPr>
            <a:r>
              <a:t>SMART INDIA HACKATHON 2026</a:t>
            </a:r>
            <a:br/>
            <a:r>
              <a:t>Team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"/>
          <a:lstStyle/>
          <a:p>
            <a:pPr algn="ctr">
              <a:defRPr sz="1100">
                <a:solidFill>
                  <a:srgbClr val="FFFFFF"/>
                </a:solidFill>
                <a:latin typeface="Arial"/>
              </a:defRPr>
            </a:pPr>
            <a:r>
              <a:t>@SIH Idea Submission Template  |  Slide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85800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1. Indian Railways Domain Standards: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Indian Railways General &amp; Subsidiary Rules (G&amp;SR) — Interlocking Regulations.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Integrated Coaching Management System (ICMS) &amp; Control Office Application (COA) Specifications.</a:t>
            </a:r>
          </a:p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2. Algorithmic Research: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Google OR-Tools Constraint Programming (CP-SAT) Framework Documentation.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Scikit-Learn Machine Learning Pipelines: Random Forest Ensemble Learning for Delay Risk.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Railway Graph Theory: Dynamic Conflict Detection &amp; Track Resource Allocation Models.</a:t>
            </a:r>
          </a:p>
          <a:p>
            <a:pPr>
              <a:spcAft>
                <a:spcPts val="300"/>
              </a:spcAft>
              <a:defRPr b="1" sz="1700">
                <a:solidFill>
                  <a:srgbClr val="1E40AF"/>
                </a:solidFill>
              </a:defRPr>
            </a:pPr>
            <a:r>
              <a:t>3. Prototype Verification &amp; Repository: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Live Dashboard URL: http://localhost:5173  |  Backend API: http://127.0.0.1:8000/api</a:t>
            </a:r>
          </a:p>
          <a:p>
            <a:pPr>
              <a:spcAft>
                <a:spcPts val="300"/>
              </a:spcAft>
              <a:defRPr sz="1300">
                <a:solidFill>
                  <a:srgbClr val="0F172A"/>
                </a:solidFill>
              </a:defRPr>
            </a:pPr>
            <a:r>
              <a:t>  • Automated Test Suite: sih_traintraffic/tests/test_end_to_end_validation.py (Passed 7/7).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280160"/>
            <a:ext cx="3657600" cy="475488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/>
          <a:lstStyle/>
          <a:p>
            <a:pPr algn="ctr">
              <a:spcAft>
                <a:spcPts val="1000"/>
              </a:spcAft>
              <a:defRPr b="1" sz="1600">
                <a:solidFill>
                  <a:srgbClr val="1E40AF"/>
                </a:solidFill>
                <a:latin typeface="Arial"/>
              </a:defRPr>
            </a:pPr>
            <a:r>
              <a:t>📷 IMAGE PLACEHOLDER</a:t>
            </a:r>
          </a:p>
          <a:p>
            <a:pPr algn="ctr">
              <a:spcAft>
                <a:spcPts val="600"/>
              </a:spcAft>
              <a:defRPr b="1" sz="1400">
                <a:solidFill>
                  <a:srgbClr val="0F172A"/>
                </a:solidFill>
                <a:latin typeface="Arial"/>
              </a:defRPr>
            </a:pPr>
            <a:r>
              <a:t>[Insert Event Log &amp; Repository Screenshot]</a:t>
            </a:r>
          </a:p>
          <a:p>
            <a:pPr algn="ctr">
              <a:defRPr sz="1200">
                <a:solidFill>
                  <a:srgbClr val="475569"/>
                </a:solidFill>
                <a:latin typeface="Arial"/>
              </a:defRPr>
            </a:pPr>
            <a:r>
              <a:t>(Insert screenshot of Live System Event Log panel showing streaming audit trail and GitHub Repository commits)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